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4" d="100"/>
          <a:sy n="54" d="100"/>
        </p:scale>
        <p:origin x="2587"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3303FE-065F-42F1-A35C-4E7349556214}" type="datetimeFigureOut">
              <a:rPr lang="en-ID" smtClean="0"/>
              <a:t>27/11/2025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CE5C2A5-7B5A-4453-A712-57BBBD96F41B}" type="slidenum">
              <a:rPr lang="en-ID" smtClean="0"/>
              <a:t>‹#›</a:t>
            </a:fld>
            <a:endParaRPr lang="en-ID"/>
          </a:p>
        </p:txBody>
      </p:sp>
    </p:spTree>
    <p:extLst>
      <p:ext uri="{BB962C8B-B14F-4D97-AF65-F5344CB8AC3E}">
        <p14:creationId xmlns:p14="http://schemas.microsoft.com/office/powerpoint/2010/main" val="2139087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3303FE-065F-42F1-A35C-4E7349556214}" type="datetimeFigureOut">
              <a:rPr lang="en-ID" smtClean="0"/>
              <a:t>27/11/2025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CE5C2A5-7B5A-4453-A712-57BBBD96F41B}" type="slidenum">
              <a:rPr lang="en-ID" smtClean="0"/>
              <a:t>‹#›</a:t>
            </a:fld>
            <a:endParaRPr lang="en-ID"/>
          </a:p>
        </p:txBody>
      </p:sp>
    </p:spTree>
    <p:extLst>
      <p:ext uri="{BB962C8B-B14F-4D97-AF65-F5344CB8AC3E}">
        <p14:creationId xmlns:p14="http://schemas.microsoft.com/office/powerpoint/2010/main" val="3348591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tint val="82000"/>
                  </a:schemeClr>
                </a:solidFill>
              </a:defRPr>
            </a:lvl1pPr>
            <a:lvl2pPr marL="377967" indent="0">
              <a:buNone/>
              <a:defRPr sz="1653">
                <a:solidFill>
                  <a:schemeClr val="tx1">
                    <a:tint val="82000"/>
                  </a:schemeClr>
                </a:solidFill>
              </a:defRPr>
            </a:lvl2pPr>
            <a:lvl3pPr marL="755934" indent="0">
              <a:buNone/>
              <a:defRPr sz="1488">
                <a:solidFill>
                  <a:schemeClr val="tx1">
                    <a:tint val="82000"/>
                  </a:schemeClr>
                </a:solidFill>
              </a:defRPr>
            </a:lvl3pPr>
            <a:lvl4pPr marL="1133902" indent="0">
              <a:buNone/>
              <a:defRPr sz="1323">
                <a:solidFill>
                  <a:schemeClr val="tx1">
                    <a:tint val="82000"/>
                  </a:schemeClr>
                </a:solidFill>
              </a:defRPr>
            </a:lvl4pPr>
            <a:lvl5pPr marL="1511869" indent="0">
              <a:buNone/>
              <a:defRPr sz="1323">
                <a:solidFill>
                  <a:schemeClr val="tx1">
                    <a:tint val="82000"/>
                  </a:schemeClr>
                </a:solidFill>
              </a:defRPr>
            </a:lvl5pPr>
            <a:lvl6pPr marL="1889836" indent="0">
              <a:buNone/>
              <a:defRPr sz="1323">
                <a:solidFill>
                  <a:schemeClr val="tx1">
                    <a:tint val="82000"/>
                  </a:schemeClr>
                </a:solidFill>
              </a:defRPr>
            </a:lvl6pPr>
            <a:lvl7pPr marL="2267803" indent="0">
              <a:buNone/>
              <a:defRPr sz="1323">
                <a:solidFill>
                  <a:schemeClr val="tx1">
                    <a:tint val="82000"/>
                  </a:schemeClr>
                </a:solidFill>
              </a:defRPr>
            </a:lvl7pPr>
            <a:lvl8pPr marL="2645771" indent="0">
              <a:buNone/>
              <a:defRPr sz="1323">
                <a:solidFill>
                  <a:schemeClr val="tx1">
                    <a:tint val="82000"/>
                  </a:schemeClr>
                </a:solidFill>
              </a:defRPr>
            </a:lvl8pPr>
            <a:lvl9pPr marL="3023738" indent="0">
              <a:buNone/>
              <a:defRPr sz="132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3303FE-065F-42F1-A35C-4E7349556214}" type="datetimeFigureOut">
              <a:rPr lang="en-ID" smtClean="0"/>
              <a:t>27/11/2025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CE5C2A5-7B5A-4453-A712-57BBBD96F41B}" type="slidenum">
              <a:rPr lang="en-ID" smtClean="0"/>
              <a:t>‹#›</a:t>
            </a:fld>
            <a:endParaRPr lang="en-ID"/>
          </a:p>
        </p:txBody>
      </p:sp>
    </p:spTree>
    <p:extLst>
      <p:ext uri="{BB962C8B-B14F-4D97-AF65-F5344CB8AC3E}">
        <p14:creationId xmlns:p14="http://schemas.microsoft.com/office/powerpoint/2010/main" val="2381962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3303FE-065F-42F1-A35C-4E7349556214}" type="datetimeFigureOut">
              <a:rPr lang="en-ID" smtClean="0"/>
              <a:t>27/11/2025</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CE5C2A5-7B5A-4453-A712-57BBBD96F41B}" type="slidenum">
              <a:rPr lang="en-ID" smtClean="0"/>
              <a:t>‹#›</a:t>
            </a:fld>
            <a:endParaRPr lang="en-ID"/>
          </a:p>
        </p:txBody>
      </p:sp>
    </p:spTree>
    <p:extLst>
      <p:ext uri="{BB962C8B-B14F-4D97-AF65-F5344CB8AC3E}">
        <p14:creationId xmlns:p14="http://schemas.microsoft.com/office/powerpoint/2010/main" val="254243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3303FE-065F-42F1-A35C-4E7349556214}" type="datetimeFigureOut">
              <a:rPr lang="en-ID" smtClean="0"/>
              <a:t>27/11/2025</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FCE5C2A5-7B5A-4453-A712-57BBBD96F41B}" type="slidenum">
              <a:rPr lang="en-ID" smtClean="0"/>
              <a:t>‹#›</a:t>
            </a:fld>
            <a:endParaRPr lang="en-ID"/>
          </a:p>
        </p:txBody>
      </p:sp>
    </p:spTree>
    <p:extLst>
      <p:ext uri="{BB962C8B-B14F-4D97-AF65-F5344CB8AC3E}">
        <p14:creationId xmlns:p14="http://schemas.microsoft.com/office/powerpoint/2010/main" val="349515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3303FE-065F-42F1-A35C-4E7349556214}" type="datetimeFigureOut">
              <a:rPr lang="en-ID" smtClean="0"/>
              <a:t>27/11/2025</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FCE5C2A5-7B5A-4453-A712-57BBBD96F41B}" type="slidenum">
              <a:rPr lang="en-ID" smtClean="0"/>
              <a:t>‹#›</a:t>
            </a:fld>
            <a:endParaRPr lang="en-ID"/>
          </a:p>
        </p:txBody>
      </p:sp>
    </p:spTree>
    <p:extLst>
      <p:ext uri="{BB962C8B-B14F-4D97-AF65-F5344CB8AC3E}">
        <p14:creationId xmlns:p14="http://schemas.microsoft.com/office/powerpoint/2010/main" val="2105357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3303FE-065F-42F1-A35C-4E7349556214}" type="datetimeFigureOut">
              <a:rPr lang="en-ID" smtClean="0"/>
              <a:t>27/11/2025</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FCE5C2A5-7B5A-4453-A712-57BBBD96F41B}" type="slidenum">
              <a:rPr lang="en-ID" smtClean="0"/>
              <a:t>‹#›</a:t>
            </a:fld>
            <a:endParaRPr lang="en-ID"/>
          </a:p>
        </p:txBody>
      </p:sp>
    </p:spTree>
    <p:extLst>
      <p:ext uri="{BB962C8B-B14F-4D97-AF65-F5344CB8AC3E}">
        <p14:creationId xmlns:p14="http://schemas.microsoft.com/office/powerpoint/2010/main" val="3365732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B53303FE-065F-42F1-A35C-4E7349556214}" type="datetimeFigureOut">
              <a:rPr lang="en-ID" smtClean="0"/>
              <a:t>27/11/2025</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CE5C2A5-7B5A-4453-A712-57BBBD96F41B}" type="slidenum">
              <a:rPr lang="en-ID" smtClean="0"/>
              <a:t>‹#›</a:t>
            </a:fld>
            <a:endParaRPr lang="en-ID"/>
          </a:p>
        </p:txBody>
      </p:sp>
    </p:spTree>
    <p:extLst>
      <p:ext uri="{BB962C8B-B14F-4D97-AF65-F5344CB8AC3E}">
        <p14:creationId xmlns:p14="http://schemas.microsoft.com/office/powerpoint/2010/main" val="2565298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B53303FE-065F-42F1-A35C-4E7349556214}" type="datetimeFigureOut">
              <a:rPr lang="en-ID" smtClean="0"/>
              <a:t>27/11/2025</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CE5C2A5-7B5A-4453-A712-57BBBD96F41B}" type="slidenum">
              <a:rPr lang="en-ID" smtClean="0"/>
              <a:t>‹#›</a:t>
            </a:fld>
            <a:endParaRPr lang="en-ID"/>
          </a:p>
        </p:txBody>
      </p:sp>
    </p:spTree>
    <p:extLst>
      <p:ext uri="{BB962C8B-B14F-4D97-AF65-F5344CB8AC3E}">
        <p14:creationId xmlns:p14="http://schemas.microsoft.com/office/powerpoint/2010/main" val="1753362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3303FE-065F-42F1-A35C-4E7349556214}" type="datetimeFigureOut">
              <a:rPr lang="en-ID" smtClean="0"/>
              <a:t>27/11/2025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CE5C2A5-7B5A-4453-A712-57BBBD96F41B}" type="slidenum">
              <a:rPr lang="en-ID" smtClean="0"/>
              <a:t>‹#›</a:t>
            </a:fld>
            <a:endParaRPr lang="en-ID"/>
          </a:p>
        </p:txBody>
      </p:sp>
    </p:spTree>
    <p:extLst>
      <p:ext uri="{BB962C8B-B14F-4D97-AF65-F5344CB8AC3E}">
        <p14:creationId xmlns:p14="http://schemas.microsoft.com/office/powerpoint/2010/main" val="1732758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3303FE-065F-42F1-A35C-4E7349556214}" type="datetimeFigureOut">
              <a:rPr lang="en-ID" smtClean="0"/>
              <a:t>27/11/2025</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CE5C2A5-7B5A-4453-A712-57BBBD96F41B}" type="slidenum">
              <a:rPr lang="en-ID" smtClean="0"/>
              <a:t>‹#›</a:t>
            </a:fld>
            <a:endParaRPr lang="en-ID"/>
          </a:p>
        </p:txBody>
      </p:sp>
    </p:spTree>
    <p:extLst>
      <p:ext uri="{BB962C8B-B14F-4D97-AF65-F5344CB8AC3E}">
        <p14:creationId xmlns:p14="http://schemas.microsoft.com/office/powerpoint/2010/main" val="427789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82000"/>
                  </a:schemeClr>
                </a:solidFill>
              </a:defRPr>
            </a:lvl1pPr>
          </a:lstStyle>
          <a:p>
            <a:fld id="{B53303FE-065F-42F1-A35C-4E7349556214}" type="datetimeFigureOut">
              <a:rPr lang="en-ID" smtClean="0"/>
              <a:t>27/11/2025</a:t>
            </a:fld>
            <a:endParaRPr lang="en-ID"/>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82000"/>
                  </a:schemeClr>
                </a:solidFill>
              </a:defRPr>
            </a:lvl1pPr>
          </a:lstStyle>
          <a:p>
            <a:endParaRPr lang="en-ID"/>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82000"/>
                  </a:schemeClr>
                </a:solidFill>
              </a:defRPr>
            </a:lvl1pPr>
          </a:lstStyle>
          <a:p>
            <a:fld id="{FCE5C2A5-7B5A-4453-A712-57BBBD96F41B}" type="slidenum">
              <a:rPr lang="en-ID" smtClean="0"/>
              <a:t>‹#›</a:t>
            </a:fld>
            <a:endParaRPr lang="en-ID"/>
          </a:p>
        </p:txBody>
      </p:sp>
    </p:spTree>
    <p:extLst>
      <p:ext uri="{BB962C8B-B14F-4D97-AF65-F5344CB8AC3E}">
        <p14:creationId xmlns:p14="http://schemas.microsoft.com/office/powerpoint/2010/main" val="24956190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5ED02-DBFE-CD13-DABB-F35AF0C3E13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B46B891-CB8F-12B3-DA48-6DF026817E2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19" y="2155"/>
            <a:ext cx="7558636" cy="10687503"/>
          </a:xfrm>
          <a:prstGeom prst="rect">
            <a:avLst/>
          </a:prstGeom>
        </p:spPr>
      </p:pic>
      <p:sp>
        <p:nvSpPr>
          <p:cNvPr id="8" name="Rectangle 7">
            <a:extLst>
              <a:ext uri="{FF2B5EF4-FFF2-40B4-BE49-F238E27FC236}">
                <a16:creationId xmlns:a16="http://schemas.microsoft.com/office/drawing/2014/main" id="{3D823F1C-42B9-40BC-40D6-1B0CD3515B10}"/>
              </a:ext>
            </a:extLst>
          </p:cNvPr>
          <p:cNvSpPr/>
          <p:nvPr/>
        </p:nvSpPr>
        <p:spPr>
          <a:xfrm>
            <a:off x="1656477" y="31010"/>
            <a:ext cx="4246721" cy="315471"/>
          </a:xfrm>
          <a:prstGeom prst="rect">
            <a:avLst/>
          </a:prstGeom>
        </p:spPr>
        <p:txBody>
          <a:bodyPr wrap="square">
            <a:spAutoFit/>
          </a:bodyPr>
          <a:lstStyle/>
          <a:p>
            <a:pPr algn="ctr" defTabSz="687720"/>
            <a:r>
              <a:rPr lang="id-ID" sz="1450" b="1" dirty="0">
                <a:solidFill>
                  <a:schemeClr val="bg1"/>
                </a:solidFill>
                <a:latin typeface="Calibri"/>
              </a:rPr>
              <a:t>Judul Penelitian/Pengabdian Masyarakat/Inovasi</a:t>
            </a:r>
            <a:endParaRPr lang="en-US" sz="1450" dirty="0">
              <a:solidFill>
                <a:schemeClr val="bg1"/>
              </a:solidFill>
              <a:latin typeface="Calibri"/>
            </a:endParaRPr>
          </a:p>
        </p:txBody>
      </p:sp>
      <p:sp>
        <p:nvSpPr>
          <p:cNvPr id="12" name="Rectangle 11">
            <a:extLst>
              <a:ext uri="{FF2B5EF4-FFF2-40B4-BE49-F238E27FC236}">
                <a16:creationId xmlns:a16="http://schemas.microsoft.com/office/drawing/2014/main" id="{8245F3B2-13B1-8601-BBDB-42BD1350430F}"/>
              </a:ext>
            </a:extLst>
          </p:cNvPr>
          <p:cNvSpPr/>
          <p:nvPr/>
        </p:nvSpPr>
        <p:spPr>
          <a:xfrm>
            <a:off x="792624" y="278612"/>
            <a:ext cx="5974427" cy="284693"/>
          </a:xfrm>
          <a:prstGeom prst="rect">
            <a:avLst/>
          </a:prstGeom>
        </p:spPr>
        <p:txBody>
          <a:bodyPr wrap="square">
            <a:spAutoFit/>
          </a:bodyPr>
          <a:lstStyle/>
          <a:p>
            <a:pPr algn="ctr" defTabSz="687720"/>
            <a:r>
              <a:rPr lang="id-ID" sz="1250" b="1" dirty="0">
                <a:solidFill>
                  <a:schemeClr val="bg1"/>
                </a:solidFill>
                <a:latin typeface="Calibri"/>
              </a:rPr>
              <a:t>Nama </a:t>
            </a:r>
            <a:r>
              <a:rPr lang="en-GB" sz="1250" b="1" dirty="0">
                <a:solidFill>
                  <a:schemeClr val="bg1"/>
                </a:solidFill>
                <a:latin typeface="Calibri"/>
              </a:rPr>
              <a:t>Program dan Skema</a:t>
            </a:r>
            <a:endParaRPr lang="id-ID" sz="1250" b="1" dirty="0">
              <a:solidFill>
                <a:schemeClr val="bg1"/>
              </a:solidFill>
              <a:latin typeface="Calibri"/>
            </a:endParaRPr>
          </a:p>
        </p:txBody>
      </p:sp>
      <p:sp>
        <p:nvSpPr>
          <p:cNvPr id="5" name="TextBox 4">
            <a:extLst>
              <a:ext uri="{FF2B5EF4-FFF2-40B4-BE49-F238E27FC236}">
                <a16:creationId xmlns:a16="http://schemas.microsoft.com/office/drawing/2014/main" id="{CE84C2CE-9906-D913-A44E-EC7974F86A6F}"/>
              </a:ext>
            </a:extLst>
          </p:cNvPr>
          <p:cNvSpPr txBox="1"/>
          <p:nvPr/>
        </p:nvSpPr>
        <p:spPr>
          <a:xfrm>
            <a:off x="144780" y="1670304"/>
            <a:ext cx="2382012" cy="954107"/>
          </a:xfrm>
          <a:prstGeom prst="rect">
            <a:avLst/>
          </a:prstGeom>
          <a:noFill/>
        </p:spPr>
        <p:txBody>
          <a:bodyPr wrap="square" rtlCol="0">
            <a:spAutoFit/>
          </a:bodyPr>
          <a:lstStyle/>
          <a:p>
            <a:pPr algn="just"/>
            <a:r>
              <a:rPr lang="en-ID" sz="800" dirty="0">
                <a:latin typeface="Arial" panose="020B0604020202020204" pitchFamily="34" charset="0"/>
                <a:cs typeface="Arial" panose="020B0604020202020204" pitchFamily="34" charset="0"/>
              </a:rPr>
              <a:t>Lorem ipsum </a:t>
            </a:r>
            <a:r>
              <a:rPr lang="en-ID" sz="800" dirty="0" err="1">
                <a:latin typeface="Arial" panose="020B0604020202020204" pitchFamily="34" charset="0"/>
                <a:cs typeface="Arial" panose="020B0604020202020204" pitchFamily="34" charset="0"/>
              </a:rPr>
              <a:t>dolor</a:t>
            </a:r>
            <a:r>
              <a:rPr lang="en-ID" sz="800" dirty="0">
                <a:latin typeface="Arial" panose="020B0604020202020204" pitchFamily="34" charset="0"/>
                <a:cs typeface="Arial" panose="020B0604020202020204" pitchFamily="34" charset="0"/>
              </a:rPr>
              <a:t> sit </a:t>
            </a:r>
            <a:r>
              <a:rPr lang="en-ID" sz="800" dirty="0" err="1">
                <a:latin typeface="Arial" panose="020B0604020202020204" pitchFamily="34" charset="0"/>
                <a:cs typeface="Arial" panose="020B0604020202020204" pitchFamily="34" charset="0"/>
              </a:rPr>
              <a:t>amet</a:t>
            </a:r>
            <a:r>
              <a:rPr lang="en-ID" sz="800" dirty="0">
                <a:latin typeface="Arial" panose="020B0604020202020204" pitchFamily="34" charset="0"/>
                <a:cs typeface="Arial" panose="020B0604020202020204" pitchFamily="34" charset="0"/>
              </a:rPr>
              <a:t>, cons </a:t>
            </a:r>
            <a:r>
              <a:rPr lang="en-ID" sz="800" dirty="0" err="1">
                <a:latin typeface="Arial" panose="020B0604020202020204" pitchFamily="34" charset="0"/>
                <a:cs typeface="Arial" panose="020B0604020202020204" pitchFamily="34" charset="0"/>
              </a:rPr>
              <a:t>ectetuer</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adipiscing</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elit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sed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diam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nonummy</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nibh</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euismod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tincidunt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laoreet</a:t>
            </a:r>
            <a:r>
              <a:rPr lang="en-ID" sz="800" dirty="0">
                <a:latin typeface="Arial" panose="020B0604020202020204" pitchFamily="34" charset="0"/>
                <a:cs typeface="Arial" panose="020B0604020202020204" pitchFamily="34" charset="0"/>
              </a:rPr>
              <a:t> dolore magna </a:t>
            </a:r>
            <a:r>
              <a:rPr lang="en-ID" sz="800" dirty="0" err="1">
                <a:latin typeface="Arial" panose="020B0604020202020204" pitchFamily="34" charset="0"/>
                <a:cs typeface="Arial" panose="020B0604020202020204" pitchFamily="34" charset="0"/>
              </a:rPr>
              <a:t>aliquam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erat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volutpat</a:t>
            </a:r>
            <a:r>
              <a:rPr lang="en-ID" sz="800" dirty="0">
                <a:latin typeface="Arial" panose="020B0604020202020204" pitchFamily="34" charset="0"/>
                <a:cs typeface="Arial" panose="020B0604020202020204" pitchFamily="34" charset="0"/>
              </a:rPr>
              <a:t>. Ut </a:t>
            </a:r>
            <a:r>
              <a:rPr lang="en-ID" sz="800" dirty="0" err="1">
                <a:latin typeface="Arial" panose="020B0604020202020204" pitchFamily="34" charset="0"/>
                <a:cs typeface="Arial" panose="020B0604020202020204" pitchFamily="34" charset="0"/>
              </a:rPr>
              <a:t>wisi</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enim</a:t>
            </a:r>
            <a:r>
              <a:rPr lang="en-ID" sz="800" dirty="0">
                <a:latin typeface="Arial" panose="020B0604020202020204" pitchFamily="34" charset="0"/>
                <a:cs typeface="Arial" panose="020B0604020202020204" pitchFamily="34" charset="0"/>
              </a:rPr>
              <a:t> ad minim </a:t>
            </a:r>
            <a:r>
              <a:rPr lang="en-ID" sz="800" dirty="0" err="1">
                <a:latin typeface="Arial" panose="020B0604020202020204" pitchFamily="34" charset="0"/>
                <a:cs typeface="Arial" panose="020B0604020202020204" pitchFamily="34" charset="0"/>
              </a:rPr>
              <a:t>veniam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quis</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nostrud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exerci</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tation</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ullamcorper</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suscipit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lobortis</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nisl</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aliquip</a:t>
            </a:r>
            <a:r>
              <a:rPr lang="en-ID" sz="800" dirty="0">
                <a:latin typeface="Arial" panose="020B0604020202020204" pitchFamily="34" charset="0"/>
                <a:cs typeface="Arial" panose="020B0604020202020204" pitchFamily="34" charset="0"/>
              </a:rPr>
              <a:t> ex </a:t>
            </a:r>
            <a:r>
              <a:rPr lang="en-ID" sz="800" dirty="0" err="1">
                <a:latin typeface="Arial" panose="020B0604020202020204" pitchFamily="34" charset="0"/>
                <a:cs typeface="Arial" panose="020B0604020202020204" pitchFamily="34" charset="0"/>
              </a:rPr>
              <a:t>ea</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commodo</a:t>
            </a:r>
            <a:r>
              <a:rPr lang="en-ID" sz="800" dirty="0">
                <a:latin typeface="Arial" panose="020B0604020202020204" pitchFamily="34" charset="0"/>
                <a:cs typeface="Arial" panose="020B0604020202020204" pitchFamily="34" charset="0"/>
              </a:rPr>
              <a:t>.</a:t>
            </a:r>
          </a:p>
          <a:p>
            <a:pPr algn="just"/>
            <a:endParaRPr lang="en-ID" sz="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9AEBE28-FBB3-673A-7308-E82A57B680BD}"/>
              </a:ext>
            </a:extLst>
          </p:cNvPr>
          <p:cNvSpPr txBox="1"/>
          <p:nvPr/>
        </p:nvSpPr>
        <p:spPr>
          <a:xfrm>
            <a:off x="144780" y="3361437"/>
            <a:ext cx="2453640" cy="215444"/>
          </a:xfrm>
          <a:prstGeom prst="rect">
            <a:avLst/>
          </a:prstGeom>
          <a:noFill/>
        </p:spPr>
        <p:txBody>
          <a:bodyPr wrap="square" rtlCol="0">
            <a:spAutoFit/>
          </a:bodyPr>
          <a:lstStyle/>
          <a:p>
            <a:pPr algn="just"/>
            <a:r>
              <a:rPr lang="en-ID" sz="800" dirty="0">
                <a:latin typeface="Arial" panose="020B0604020202020204" pitchFamily="34" charset="0"/>
                <a:cs typeface="Arial" panose="020B0604020202020204" pitchFamily="34" charset="0"/>
              </a:rPr>
              <a:t>Keyword: Research 1, Research 2, , Research 3.</a:t>
            </a:r>
          </a:p>
        </p:txBody>
      </p:sp>
      <p:sp>
        <p:nvSpPr>
          <p:cNvPr id="7" name="TextBox 6">
            <a:extLst>
              <a:ext uri="{FF2B5EF4-FFF2-40B4-BE49-F238E27FC236}">
                <a16:creationId xmlns:a16="http://schemas.microsoft.com/office/drawing/2014/main" id="{09D72465-F89E-ED5D-8590-D83555796702}"/>
              </a:ext>
            </a:extLst>
          </p:cNvPr>
          <p:cNvSpPr txBox="1"/>
          <p:nvPr/>
        </p:nvSpPr>
        <p:spPr>
          <a:xfrm>
            <a:off x="160020" y="1371040"/>
            <a:ext cx="2366772" cy="276999"/>
          </a:xfrm>
          <a:prstGeom prst="rect">
            <a:avLst/>
          </a:prstGeom>
          <a:noFill/>
        </p:spPr>
        <p:txBody>
          <a:bodyPr wrap="square" rtlCol="0">
            <a:spAutoFit/>
          </a:bodyPr>
          <a:lstStyle/>
          <a:p>
            <a:pPr algn="just"/>
            <a:r>
              <a:rPr lang="en-ID" sz="1200" b="1" dirty="0">
                <a:latin typeface="Arial" panose="020B0604020202020204" pitchFamily="34" charset="0"/>
                <a:cs typeface="Arial" panose="020B0604020202020204" pitchFamily="34" charset="0"/>
              </a:rPr>
              <a:t>Abstract</a:t>
            </a:r>
          </a:p>
        </p:txBody>
      </p:sp>
      <p:sp>
        <p:nvSpPr>
          <p:cNvPr id="9" name="TextBox 8">
            <a:extLst>
              <a:ext uri="{FF2B5EF4-FFF2-40B4-BE49-F238E27FC236}">
                <a16:creationId xmlns:a16="http://schemas.microsoft.com/office/drawing/2014/main" id="{AC2CBA67-EA2B-B11E-B354-1D2672369D9D}"/>
              </a:ext>
            </a:extLst>
          </p:cNvPr>
          <p:cNvSpPr txBox="1"/>
          <p:nvPr/>
        </p:nvSpPr>
        <p:spPr>
          <a:xfrm>
            <a:off x="2598420" y="1355799"/>
            <a:ext cx="2366772" cy="276999"/>
          </a:xfrm>
          <a:prstGeom prst="rect">
            <a:avLst/>
          </a:prstGeom>
          <a:noFill/>
        </p:spPr>
        <p:txBody>
          <a:bodyPr wrap="square" rtlCol="0">
            <a:spAutoFit/>
          </a:bodyPr>
          <a:lstStyle/>
          <a:p>
            <a:pPr algn="just"/>
            <a:r>
              <a:rPr lang="en-ID" sz="1200" b="1" dirty="0">
                <a:latin typeface="Arial" panose="020B0604020202020204" pitchFamily="34" charset="0"/>
                <a:cs typeface="Arial" panose="020B0604020202020204" pitchFamily="34" charset="0"/>
              </a:rPr>
              <a:t>Research Method</a:t>
            </a:r>
          </a:p>
        </p:txBody>
      </p:sp>
      <p:sp>
        <p:nvSpPr>
          <p:cNvPr id="14" name="TextBox 13">
            <a:extLst>
              <a:ext uri="{FF2B5EF4-FFF2-40B4-BE49-F238E27FC236}">
                <a16:creationId xmlns:a16="http://schemas.microsoft.com/office/drawing/2014/main" id="{67017CDF-48AC-4884-37A3-9EAF49465828}"/>
              </a:ext>
            </a:extLst>
          </p:cNvPr>
          <p:cNvSpPr txBox="1"/>
          <p:nvPr/>
        </p:nvSpPr>
        <p:spPr>
          <a:xfrm>
            <a:off x="164973" y="3629593"/>
            <a:ext cx="2366772" cy="276999"/>
          </a:xfrm>
          <a:prstGeom prst="rect">
            <a:avLst/>
          </a:prstGeom>
          <a:noFill/>
        </p:spPr>
        <p:txBody>
          <a:bodyPr wrap="square" rtlCol="0">
            <a:spAutoFit/>
          </a:bodyPr>
          <a:lstStyle/>
          <a:p>
            <a:pPr algn="just"/>
            <a:r>
              <a:rPr lang="en-ID" sz="1200" b="1" dirty="0">
                <a:latin typeface="Arial" panose="020B0604020202020204" pitchFamily="34" charset="0"/>
                <a:cs typeface="Arial" panose="020B0604020202020204" pitchFamily="34" charset="0"/>
              </a:rPr>
              <a:t>Introduction</a:t>
            </a:r>
          </a:p>
        </p:txBody>
      </p:sp>
      <p:sp>
        <p:nvSpPr>
          <p:cNvPr id="16" name="TextBox 15">
            <a:extLst>
              <a:ext uri="{FF2B5EF4-FFF2-40B4-BE49-F238E27FC236}">
                <a16:creationId xmlns:a16="http://schemas.microsoft.com/office/drawing/2014/main" id="{C2E2C67C-0353-9ECA-FB1D-EE77BCE051BA}"/>
              </a:ext>
            </a:extLst>
          </p:cNvPr>
          <p:cNvSpPr txBox="1"/>
          <p:nvPr/>
        </p:nvSpPr>
        <p:spPr>
          <a:xfrm>
            <a:off x="164973" y="3944097"/>
            <a:ext cx="2382012" cy="5878532"/>
          </a:xfrm>
          <a:prstGeom prst="rect">
            <a:avLst/>
          </a:prstGeom>
          <a:noFill/>
        </p:spPr>
        <p:txBody>
          <a:bodyPr wrap="square" rtlCol="0">
            <a:spAutoFit/>
          </a:bodyPr>
          <a:lstStyle/>
          <a:p>
            <a:pPr algn="just"/>
            <a:r>
              <a:rPr lang="en-US" sz="800" dirty="0">
                <a:latin typeface="Arial" panose="020B0604020202020204" pitchFamily="34" charset="0"/>
                <a:cs typeface="Arial" panose="020B0604020202020204" pitchFamily="34" charset="0"/>
              </a:rPr>
              <a:t>Since the 2010s, air traffic management has been disrupted by the rapid growth of unmanned aerial vehicle (UAV) usage, commonly referred to as drones. The sporadic emergence of drones, operated by a highly diverse range of users, has driven researchers and aviation policy-makers to develop various strategies to ensure safety and security, particularly within civil airspace. This situation has highlighted the need for analysis of interactions among drones, between drones and manned aircraft, as well as between drones and other critical infrastructure.</a:t>
            </a:r>
          </a:p>
          <a:p>
            <a:pPr algn="just"/>
            <a:endParaRPr lang="en-ID" sz="800" dirty="0">
              <a:latin typeface="Arial" panose="020B0604020202020204" pitchFamily="34" charset="0"/>
              <a:cs typeface="Arial" panose="020B0604020202020204" pitchFamily="34" charset="0"/>
            </a:endParaRPr>
          </a:p>
          <a:p>
            <a:pPr algn="just"/>
            <a:r>
              <a:rPr lang="en-US" sz="800" dirty="0">
                <a:latin typeface="Arial" panose="020B0604020202020204" pitchFamily="34" charset="0"/>
                <a:cs typeface="Arial" panose="020B0604020202020204" pitchFamily="34" charset="0"/>
              </a:rPr>
              <a:t>The Specific Operations Risk Assessment (SORA) framework provides a structured methodology for evaluating the risks associated with unmanned aircraft operations, with particular emphasis on air risk and ground risk. In this project, SORA is adapted into a computational form that enables both risk dimensions to be evaluated continuously during flight simulation rather than only during pre-flight planning. The air risk component is implemented through a real-time classification system that integrates controlled airspace boundaries, altitude thresholds, and aircraft position to derive ARC-b, ARC-c, or ARC-d at every simulation step. The ground risk component is similarly operationalized by mapping the aircraft’s geolocation to population density data and converting it into a dynamic GRC level that reflects the density of uninvolved persons below the flight path. </a:t>
            </a:r>
          </a:p>
          <a:p>
            <a:pPr algn="just"/>
            <a:endParaRPr lang="en-US" sz="800" dirty="0">
              <a:latin typeface="Arial" panose="020B0604020202020204" pitchFamily="34" charset="0"/>
              <a:cs typeface="Arial" panose="020B0604020202020204" pitchFamily="34" charset="0"/>
            </a:endParaRPr>
          </a:p>
          <a:p>
            <a:pPr algn="just"/>
            <a:r>
              <a:rPr lang="en-US" sz="800" dirty="0">
                <a:latin typeface="Arial" panose="020B0604020202020204" pitchFamily="34" charset="0"/>
                <a:cs typeface="Arial" panose="020B0604020202020204" pitchFamily="34" charset="0"/>
              </a:rPr>
              <a:t>The case study involves the Cengkareng Heliport (Soekarno-Hatta Airport), which acts as the central hub. From here, the UAVs are deployed to various "spokes" (destinations) across the Greater Jakarta area; focusing on a specific route, Soekarno-Hatta (CGK) to Halim Perdanakusuma (HLP). This route is unique compared to the others because it is an Inter-Airport Transfer. It is not just about moving people to a hotel; it is about connecting two vital nodes of national transportation infrastructure.</a:t>
            </a:r>
          </a:p>
          <a:p>
            <a:pPr algn="just"/>
            <a:endParaRPr lang="en-ID" sz="8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F3DDBD7-3DA9-C6B3-4FFD-1A00F15EC1E5}"/>
              </a:ext>
            </a:extLst>
          </p:cNvPr>
          <p:cNvSpPr txBox="1"/>
          <p:nvPr/>
        </p:nvSpPr>
        <p:spPr>
          <a:xfrm>
            <a:off x="2583180" y="1636640"/>
            <a:ext cx="2382012" cy="1938992"/>
          </a:xfrm>
          <a:prstGeom prst="rect">
            <a:avLst/>
          </a:prstGeom>
          <a:noFill/>
        </p:spPr>
        <p:txBody>
          <a:bodyPr wrap="square" rtlCol="0">
            <a:spAutoFit/>
          </a:bodyPr>
          <a:lstStyle/>
          <a:p>
            <a:pPr algn="just"/>
            <a:r>
              <a:rPr lang="en-US" sz="800">
                <a:latin typeface="Arial" panose="020B0604020202020204" pitchFamily="34" charset="0"/>
                <a:cs typeface="Arial" panose="020B0604020202020204" pitchFamily="34" charset="0"/>
              </a:rPr>
              <a:t>To support real-time risk assessment based on the JARUS SORA framework, an automated real-time risk classification module based on the JARUS SORA framework was developed. The module combines Ground Risk Classification (GRC) and Air Risk Classification (ARC) to continuously evaluate the operational risk of a UAV trajectory flown in X-Plane, using population density data and controlled airspace polygons. The system is implemented in Python and runs as a loop at 2 Hz, receiving telemetry from X-Plane via XPlaneConnect, computing GRC and ARC, logging the results, updating a dashboard, and generating a KML track for post-flight visualization.</a:t>
            </a:r>
            <a:endParaRPr lang="en-ID" sz="8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D6C548E3-AD87-7CD9-70B3-F8A0920015A3}"/>
              </a:ext>
            </a:extLst>
          </p:cNvPr>
          <p:cNvSpPr txBox="1"/>
          <p:nvPr/>
        </p:nvSpPr>
        <p:spPr>
          <a:xfrm>
            <a:off x="2568257" y="5276738"/>
            <a:ext cx="2453640" cy="215444"/>
          </a:xfrm>
          <a:prstGeom prst="rect">
            <a:avLst/>
          </a:prstGeom>
          <a:noFill/>
        </p:spPr>
        <p:txBody>
          <a:bodyPr wrap="square" rtlCol="0">
            <a:spAutoFit/>
          </a:bodyPr>
          <a:lstStyle/>
          <a:p>
            <a:pPr algn="ctr"/>
            <a:r>
              <a:rPr lang="en-ID" sz="800" i="1" dirty="0">
                <a:latin typeface="Arial" panose="020B0604020202020204" pitchFamily="34" charset="0"/>
                <a:cs typeface="Arial" panose="020B0604020202020204" pitchFamily="34" charset="0"/>
              </a:rPr>
              <a:t>Picture 1. System Diagram</a:t>
            </a:r>
          </a:p>
        </p:txBody>
      </p:sp>
      <p:sp>
        <p:nvSpPr>
          <p:cNvPr id="21" name="TextBox 20">
            <a:extLst>
              <a:ext uri="{FF2B5EF4-FFF2-40B4-BE49-F238E27FC236}">
                <a16:creationId xmlns:a16="http://schemas.microsoft.com/office/drawing/2014/main" id="{189AAA4A-F34E-C888-8752-D15646430068}"/>
              </a:ext>
            </a:extLst>
          </p:cNvPr>
          <p:cNvSpPr txBox="1"/>
          <p:nvPr/>
        </p:nvSpPr>
        <p:spPr>
          <a:xfrm>
            <a:off x="2583180" y="5529687"/>
            <a:ext cx="2382012" cy="2923877"/>
          </a:xfrm>
          <a:prstGeom prst="rect">
            <a:avLst/>
          </a:prstGeom>
          <a:noFill/>
        </p:spPr>
        <p:txBody>
          <a:bodyPr wrap="square" rtlCol="0">
            <a:spAutoFit/>
          </a:bodyPr>
          <a:lstStyle/>
          <a:p>
            <a:pPr algn="just"/>
            <a:r>
              <a:rPr lang="en-US" sz="800" dirty="0">
                <a:latin typeface="Arial" panose="020B0604020202020204" pitchFamily="34" charset="0"/>
                <a:cs typeface="Arial" panose="020B0604020202020204" pitchFamily="34" charset="0"/>
              </a:rPr>
              <a:t>The air risk classification (ARC) depends on the drone’s altitude and whether it is operating inside controlled airspace. Flights inside controlled airspace, such as within Halim ATZ (Class C equivalent) are categorized as ARC-d, while operations inside Soekarno-Hatta ATZ (Class A) are assigned ARC-c. Any operation above FL600 (approximately 60,000 ft or 18 km) is automatically labeled ARC-b due to its very low air risk. Between 500 ft and FL600, flights in controlled airspace receive an ARC-d rating, whereas those in uncontrolled airspace are classified as ARC-c. Below 500 ft, operations over urban or controlled regions are assigned ARC-c, while flights over rural areas are classified as ARC-b. The ARC function returns four outputs: whether the drone is in controlled airspace, the ARC label (ARC-b, ARC-c, or ARC-d), a numerical index for plotting, and a reasoning dictionary that logs the decision rule used. This structure ensures that every classification step remains transparent and fully traceable for post-flight analysis.</a:t>
            </a:r>
          </a:p>
        </p:txBody>
      </p:sp>
      <p:sp>
        <p:nvSpPr>
          <p:cNvPr id="24" name="TextBox 23">
            <a:extLst>
              <a:ext uri="{FF2B5EF4-FFF2-40B4-BE49-F238E27FC236}">
                <a16:creationId xmlns:a16="http://schemas.microsoft.com/office/drawing/2014/main" id="{59EE9E8C-C213-3689-15C8-B4C47A8D755C}"/>
              </a:ext>
            </a:extLst>
          </p:cNvPr>
          <p:cNvSpPr txBox="1"/>
          <p:nvPr/>
        </p:nvSpPr>
        <p:spPr>
          <a:xfrm>
            <a:off x="2547747" y="9380403"/>
            <a:ext cx="2453640" cy="215444"/>
          </a:xfrm>
          <a:prstGeom prst="rect">
            <a:avLst/>
          </a:prstGeom>
          <a:noFill/>
        </p:spPr>
        <p:txBody>
          <a:bodyPr wrap="square" rtlCol="0">
            <a:spAutoFit/>
          </a:bodyPr>
          <a:lstStyle/>
          <a:p>
            <a:pPr algn="ctr"/>
            <a:r>
              <a:rPr lang="en-ID" sz="800" i="1" dirty="0">
                <a:latin typeface="Arial" panose="020B0604020202020204" pitchFamily="34" charset="0"/>
                <a:cs typeface="Arial" panose="020B0604020202020204" pitchFamily="34" charset="0"/>
              </a:rPr>
              <a:t>Picture 2. Research 2</a:t>
            </a:r>
          </a:p>
        </p:txBody>
      </p:sp>
      <p:sp>
        <p:nvSpPr>
          <p:cNvPr id="25" name="TextBox 24">
            <a:extLst>
              <a:ext uri="{FF2B5EF4-FFF2-40B4-BE49-F238E27FC236}">
                <a16:creationId xmlns:a16="http://schemas.microsoft.com/office/drawing/2014/main" id="{A790B2A3-8F62-E953-0CEB-93C1AC597D4C}"/>
              </a:ext>
            </a:extLst>
          </p:cNvPr>
          <p:cNvSpPr txBox="1"/>
          <p:nvPr/>
        </p:nvSpPr>
        <p:spPr>
          <a:xfrm>
            <a:off x="5001387" y="1387260"/>
            <a:ext cx="2382012" cy="1815882"/>
          </a:xfrm>
          <a:prstGeom prst="rect">
            <a:avLst/>
          </a:prstGeom>
          <a:noFill/>
        </p:spPr>
        <p:txBody>
          <a:bodyPr wrap="square" rtlCol="0">
            <a:spAutoFit/>
          </a:bodyPr>
          <a:lstStyle/>
          <a:p>
            <a:pPr algn="just"/>
            <a:r>
              <a:rPr lang="en-US" sz="800" dirty="0">
                <a:latin typeface="Arial" panose="020B0604020202020204" pitchFamily="34" charset="0"/>
                <a:cs typeface="Arial" panose="020B0604020202020204" pitchFamily="34" charset="0"/>
              </a:rPr>
              <a:t>In the context of this project, the goal is to translate SORA’s qualitative GRC methodology into a fully automated, real-time computational system capable of determining the intrinsic GRC (iGRC) dynamically from the UAV’s simulated flight path. To accomplish this, a spatially referenced population-density map is preprocessed and integrated with Python indexing routines that convert each latitude–longitude coordinate into a discrete GRC row. This real-time GRC assignment enables a continuous assessment of ground risk as the UAV flies across regions of differing population densities.</a:t>
            </a:r>
          </a:p>
        </p:txBody>
      </p:sp>
      <p:sp>
        <p:nvSpPr>
          <p:cNvPr id="26" name="TextBox 25">
            <a:extLst>
              <a:ext uri="{FF2B5EF4-FFF2-40B4-BE49-F238E27FC236}">
                <a16:creationId xmlns:a16="http://schemas.microsoft.com/office/drawing/2014/main" id="{89FC267D-69D4-D47D-8976-B33E06BCAE9B}"/>
              </a:ext>
            </a:extLst>
          </p:cNvPr>
          <p:cNvSpPr txBox="1"/>
          <p:nvPr/>
        </p:nvSpPr>
        <p:spPr>
          <a:xfrm>
            <a:off x="5001387" y="5661667"/>
            <a:ext cx="2366772" cy="276999"/>
          </a:xfrm>
          <a:prstGeom prst="rect">
            <a:avLst/>
          </a:prstGeom>
          <a:noFill/>
        </p:spPr>
        <p:txBody>
          <a:bodyPr wrap="square" rtlCol="0">
            <a:spAutoFit/>
          </a:bodyPr>
          <a:lstStyle/>
          <a:p>
            <a:pPr algn="just"/>
            <a:r>
              <a:rPr lang="en-ID" sz="1200" b="1" dirty="0">
                <a:latin typeface="Arial" panose="020B0604020202020204" pitchFamily="34" charset="0"/>
                <a:cs typeface="Arial" panose="020B0604020202020204" pitchFamily="34" charset="0"/>
              </a:rPr>
              <a:t>Results and Discussion</a:t>
            </a:r>
          </a:p>
        </p:txBody>
      </p:sp>
      <p:sp>
        <p:nvSpPr>
          <p:cNvPr id="27" name="TextBox 26">
            <a:extLst>
              <a:ext uri="{FF2B5EF4-FFF2-40B4-BE49-F238E27FC236}">
                <a16:creationId xmlns:a16="http://schemas.microsoft.com/office/drawing/2014/main" id="{823A4F7E-8CB7-73F3-1D51-D7BB3764DA1A}"/>
              </a:ext>
            </a:extLst>
          </p:cNvPr>
          <p:cNvSpPr txBox="1"/>
          <p:nvPr/>
        </p:nvSpPr>
        <p:spPr>
          <a:xfrm>
            <a:off x="5001387" y="5968481"/>
            <a:ext cx="2382012" cy="3785652"/>
          </a:xfrm>
          <a:prstGeom prst="rect">
            <a:avLst/>
          </a:prstGeom>
          <a:noFill/>
        </p:spPr>
        <p:txBody>
          <a:bodyPr wrap="square" rtlCol="0">
            <a:spAutoFit/>
          </a:bodyPr>
          <a:lstStyle/>
          <a:p>
            <a:pPr algn="just"/>
            <a:r>
              <a:rPr lang="en-ID" sz="800" dirty="0">
                <a:latin typeface="Arial" panose="020B0604020202020204" pitchFamily="34" charset="0"/>
                <a:cs typeface="Arial" panose="020B0604020202020204" pitchFamily="34" charset="0"/>
              </a:rPr>
              <a:t>Lorem ipsum </a:t>
            </a:r>
            <a:r>
              <a:rPr lang="en-ID" sz="800" dirty="0" err="1">
                <a:latin typeface="Arial" panose="020B0604020202020204" pitchFamily="34" charset="0"/>
                <a:cs typeface="Arial" panose="020B0604020202020204" pitchFamily="34" charset="0"/>
              </a:rPr>
              <a:t>dolor</a:t>
            </a:r>
            <a:r>
              <a:rPr lang="en-ID" sz="800" dirty="0">
                <a:latin typeface="Arial" panose="020B0604020202020204" pitchFamily="34" charset="0"/>
                <a:cs typeface="Arial" panose="020B0604020202020204" pitchFamily="34" charset="0"/>
              </a:rPr>
              <a:t> sit </a:t>
            </a:r>
            <a:r>
              <a:rPr lang="en-ID" sz="800" dirty="0" err="1">
                <a:latin typeface="Arial" panose="020B0604020202020204" pitchFamily="34" charset="0"/>
                <a:cs typeface="Arial" panose="020B0604020202020204" pitchFamily="34" charset="0"/>
              </a:rPr>
              <a:t>amet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consectetuer</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adipiscing</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elit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sed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diam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nonummy</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nibh</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euismod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tincidunt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laoreet</a:t>
            </a:r>
            <a:r>
              <a:rPr lang="en-ID" sz="800" dirty="0">
                <a:latin typeface="Arial" panose="020B0604020202020204" pitchFamily="34" charset="0"/>
                <a:cs typeface="Arial" panose="020B0604020202020204" pitchFamily="34" charset="0"/>
              </a:rPr>
              <a:t> dolore magna </a:t>
            </a:r>
            <a:r>
              <a:rPr lang="en-ID" sz="800" dirty="0" err="1">
                <a:latin typeface="Arial" panose="020B0604020202020204" pitchFamily="34" charset="0"/>
                <a:cs typeface="Arial" panose="020B0604020202020204" pitchFamily="34" charset="0"/>
              </a:rPr>
              <a:t>aliquam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erat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volutpat</a:t>
            </a:r>
            <a:r>
              <a:rPr lang="en-ID" sz="800" dirty="0">
                <a:latin typeface="Arial" panose="020B0604020202020204" pitchFamily="34" charset="0"/>
                <a:cs typeface="Arial" panose="020B0604020202020204" pitchFamily="34" charset="0"/>
              </a:rPr>
              <a:t>. Ut </a:t>
            </a:r>
            <a:r>
              <a:rPr lang="en-ID" sz="800" dirty="0" err="1">
                <a:latin typeface="Arial" panose="020B0604020202020204" pitchFamily="34" charset="0"/>
                <a:cs typeface="Arial" panose="020B0604020202020204" pitchFamily="34" charset="0"/>
              </a:rPr>
              <a:t>wisi</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enim</a:t>
            </a:r>
            <a:r>
              <a:rPr lang="en-ID" sz="800" dirty="0">
                <a:latin typeface="Arial" panose="020B0604020202020204" pitchFamily="34" charset="0"/>
                <a:cs typeface="Arial" panose="020B0604020202020204" pitchFamily="34" charset="0"/>
              </a:rPr>
              <a:t> ad minim </a:t>
            </a:r>
            <a:r>
              <a:rPr lang="en-ID" sz="800" dirty="0" err="1">
                <a:latin typeface="Arial" panose="020B0604020202020204" pitchFamily="34" charset="0"/>
                <a:cs typeface="Arial" panose="020B0604020202020204" pitchFamily="34" charset="0"/>
              </a:rPr>
              <a:t>veniam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quis</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nostrud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exerci</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tation</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ullamcorper</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suscipit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lobortis</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nisl</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aliquip</a:t>
            </a:r>
            <a:r>
              <a:rPr lang="en-ID" sz="800" dirty="0">
                <a:latin typeface="Arial" panose="020B0604020202020204" pitchFamily="34" charset="0"/>
                <a:cs typeface="Arial" panose="020B0604020202020204" pitchFamily="34" charset="0"/>
              </a:rPr>
              <a:t> ex </a:t>
            </a:r>
            <a:r>
              <a:rPr lang="en-ID" sz="800" dirty="0" err="1">
                <a:latin typeface="Arial" panose="020B0604020202020204" pitchFamily="34" charset="0"/>
                <a:cs typeface="Arial" panose="020B0604020202020204" pitchFamily="34" charset="0"/>
              </a:rPr>
              <a:t>ea</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commodo</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consequat</a:t>
            </a:r>
            <a:r>
              <a:rPr lang="en-ID" sz="800" dirty="0">
                <a:latin typeface="Arial" panose="020B0604020202020204" pitchFamily="34" charset="0"/>
                <a:cs typeface="Arial" panose="020B0604020202020204" pitchFamily="34" charset="0"/>
              </a:rPr>
              <a:t>. Duis autem </a:t>
            </a:r>
            <a:r>
              <a:rPr lang="en-ID" sz="800" dirty="0" err="1">
                <a:latin typeface="Arial" panose="020B0604020202020204" pitchFamily="34" charset="0"/>
                <a:cs typeface="Arial" panose="020B0604020202020204" pitchFamily="34" charset="0"/>
              </a:rPr>
              <a:t>vel</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eum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iriure</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dolor</a:t>
            </a:r>
            <a:r>
              <a:rPr lang="en-ID" sz="800" dirty="0">
                <a:latin typeface="Arial" panose="020B0604020202020204" pitchFamily="34" charset="0"/>
                <a:cs typeface="Arial" panose="020B0604020202020204" pitchFamily="34" charset="0"/>
              </a:rPr>
              <a:t> in </a:t>
            </a:r>
            <a:r>
              <a:rPr lang="en-ID" sz="800" dirty="0" err="1">
                <a:latin typeface="Arial" panose="020B0604020202020204" pitchFamily="34" charset="0"/>
                <a:cs typeface="Arial" panose="020B0604020202020204" pitchFamily="34" charset="0"/>
              </a:rPr>
              <a:t>hendrerit</a:t>
            </a:r>
            <a:r>
              <a:rPr lang="en-ID" sz="800" dirty="0">
                <a:latin typeface="Arial" panose="020B0604020202020204" pitchFamily="34" charset="0"/>
                <a:cs typeface="Arial" panose="020B0604020202020204" pitchFamily="34" charset="0"/>
              </a:rPr>
              <a:t> in </a:t>
            </a:r>
            <a:r>
              <a:rPr lang="en-ID" sz="800" dirty="0" err="1">
                <a:latin typeface="Arial" panose="020B0604020202020204" pitchFamily="34" charset="0"/>
                <a:cs typeface="Arial" panose="020B0604020202020204" pitchFamily="34" charset="0"/>
              </a:rPr>
              <a:t>vulputate</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velit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esse</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molestie</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consequat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vel</a:t>
            </a:r>
            <a:r>
              <a:rPr lang="en-ID" sz="800" dirty="0">
                <a:latin typeface="Arial" panose="020B0604020202020204" pitchFamily="34" charset="0"/>
                <a:cs typeface="Arial" panose="020B0604020202020204" pitchFamily="34" charset="0"/>
              </a:rPr>
              <a:t> illum dolore </a:t>
            </a:r>
            <a:r>
              <a:rPr lang="en-ID" sz="800" dirty="0" err="1">
                <a:latin typeface="Arial" panose="020B0604020202020204" pitchFamily="34" charset="0"/>
                <a:cs typeface="Arial" panose="020B0604020202020204" pitchFamily="34" charset="0"/>
              </a:rPr>
              <a:t>eu</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feugiat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nulla</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facilisis</a:t>
            </a:r>
            <a:r>
              <a:rPr lang="en-ID" sz="800" dirty="0">
                <a:latin typeface="Arial" panose="020B0604020202020204" pitchFamily="34" charset="0"/>
                <a:cs typeface="Arial" panose="020B0604020202020204" pitchFamily="34" charset="0"/>
              </a:rPr>
              <a:t> at </a:t>
            </a:r>
            <a:r>
              <a:rPr lang="en-ID" sz="800" dirty="0" err="1">
                <a:latin typeface="Arial" panose="020B0604020202020204" pitchFamily="34" charset="0"/>
                <a:cs typeface="Arial" panose="020B0604020202020204" pitchFamily="34" charset="0"/>
              </a:rPr>
              <a:t>vero</a:t>
            </a:r>
            <a:r>
              <a:rPr lang="en-ID" sz="800" dirty="0">
                <a:latin typeface="Arial" panose="020B0604020202020204" pitchFamily="34" charset="0"/>
                <a:cs typeface="Arial" panose="020B0604020202020204" pitchFamily="34" charset="0"/>
              </a:rPr>
              <a:t> eros et </a:t>
            </a:r>
            <a:r>
              <a:rPr lang="en-ID" sz="800" dirty="0" err="1">
                <a:latin typeface="Arial" panose="020B0604020202020204" pitchFamily="34" charset="0"/>
                <a:cs typeface="Arial" panose="020B0604020202020204" pitchFamily="34" charset="0"/>
              </a:rPr>
              <a:t>accumsan</a:t>
            </a:r>
            <a:r>
              <a:rPr lang="en-ID" sz="800" dirty="0">
                <a:latin typeface="Arial" panose="020B0604020202020204" pitchFamily="34" charset="0"/>
                <a:cs typeface="Arial" panose="020B0604020202020204" pitchFamily="34" charset="0"/>
              </a:rPr>
              <a:t> et </a:t>
            </a:r>
            <a:r>
              <a:rPr lang="en-ID" sz="800" dirty="0" err="1">
                <a:latin typeface="Arial" panose="020B0604020202020204" pitchFamily="34" charset="0"/>
                <a:cs typeface="Arial" panose="020B0604020202020204" pitchFamily="34" charset="0"/>
              </a:rPr>
              <a:t>iusto</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odio</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dignissim</a:t>
            </a:r>
            <a:r>
              <a:rPr lang="en-ID" sz="800" dirty="0">
                <a:latin typeface="Arial" panose="020B0604020202020204" pitchFamily="34" charset="0"/>
                <a:cs typeface="Arial" panose="020B0604020202020204" pitchFamily="34" charset="0"/>
              </a:rPr>
              <a:t> qui </a:t>
            </a:r>
            <a:r>
              <a:rPr lang="en-ID" sz="800" dirty="0" err="1">
                <a:latin typeface="Arial" panose="020B0604020202020204" pitchFamily="34" charset="0"/>
                <a:cs typeface="Arial" panose="020B0604020202020204" pitchFamily="34" charset="0"/>
              </a:rPr>
              <a:t>blandit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praesent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luptatum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zzril</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delenit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augue</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duis</a:t>
            </a:r>
            <a:r>
              <a:rPr lang="en-ID" sz="800" dirty="0">
                <a:latin typeface="Arial" panose="020B0604020202020204" pitchFamily="34" charset="0"/>
                <a:cs typeface="Arial" panose="020B0604020202020204" pitchFamily="34" charset="0"/>
              </a:rPr>
              <a:t> dolore </a:t>
            </a:r>
            <a:r>
              <a:rPr lang="en-ID" sz="800" dirty="0" err="1">
                <a:latin typeface="Arial" panose="020B0604020202020204" pitchFamily="34" charset="0"/>
                <a:cs typeface="Arial" panose="020B0604020202020204" pitchFamily="34" charset="0"/>
              </a:rPr>
              <a:t>te</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feugait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nulla</a:t>
            </a:r>
            <a:r>
              <a:rPr lang="en-ID" sz="800" dirty="0">
                <a:latin typeface="Arial" panose="020B0604020202020204" pitchFamily="34" charset="0"/>
                <a:cs typeface="Arial" panose="020B0604020202020204" pitchFamily="34" charset="0"/>
              </a:rPr>
              <a:t>.</a:t>
            </a:r>
          </a:p>
          <a:p>
            <a:pPr algn="just"/>
            <a:endParaRPr lang="en-ID" sz="800" dirty="0">
              <a:latin typeface="Arial" panose="020B0604020202020204" pitchFamily="34" charset="0"/>
              <a:cs typeface="Arial" panose="020B0604020202020204" pitchFamily="34" charset="0"/>
            </a:endParaRPr>
          </a:p>
          <a:p>
            <a:pPr algn="just"/>
            <a:r>
              <a:rPr lang="en-ID" sz="800" dirty="0">
                <a:latin typeface="Arial" panose="020B0604020202020204" pitchFamily="34" charset="0"/>
                <a:cs typeface="Arial" panose="020B0604020202020204" pitchFamily="34" charset="0"/>
              </a:rPr>
              <a:t>Lorem ipsum </a:t>
            </a:r>
            <a:r>
              <a:rPr lang="en-ID" sz="800" dirty="0" err="1">
                <a:latin typeface="Arial" panose="020B0604020202020204" pitchFamily="34" charset="0"/>
                <a:cs typeface="Arial" panose="020B0604020202020204" pitchFamily="34" charset="0"/>
              </a:rPr>
              <a:t>dolor</a:t>
            </a:r>
            <a:r>
              <a:rPr lang="en-ID" sz="800" dirty="0">
                <a:latin typeface="Arial" panose="020B0604020202020204" pitchFamily="34" charset="0"/>
                <a:cs typeface="Arial" panose="020B0604020202020204" pitchFamily="34" charset="0"/>
              </a:rPr>
              <a:t> sit </a:t>
            </a:r>
            <a:r>
              <a:rPr lang="en-ID" sz="800" dirty="0" err="1">
                <a:latin typeface="Arial" panose="020B0604020202020204" pitchFamily="34" charset="0"/>
                <a:cs typeface="Arial" panose="020B0604020202020204" pitchFamily="34" charset="0"/>
              </a:rPr>
              <a:t>amet</a:t>
            </a:r>
            <a:r>
              <a:rPr lang="en-ID" sz="800" dirty="0">
                <a:latin typeface="Arial" panose="020B0604020202020204" pitchFamily="34" charset="0"/>
                <a:cs typeface="Arial" panose="020B0604020202020204" pitchFamily="34" charset="0"/>
              </a:rPr>
              <a:t>, cons </a:t>
            </a:r>
            <a:r>
              <a:rPr lang="en-ID" sz="800" dirty="0" err="1">
                <a:latin typeface="Arial" panose="020B0604020202020204" pitchFamily="34" charset="0"/>
                <a:cs typeface="Arial" panose="020B0604020202020204" pitchFamily="34" charset="0"/>
              </a:rPr>
              <a:t>ectetuer</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adipiscing</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elit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sed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diam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nonummy</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nibh</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euismod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tincidunt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laoreet</a:t>
            </a:r>
            <a:r>
              <a:rPr lang="en-ID" sz="800" dirty="0">
                <a:latin typeface="Arial" panose="020B0604020202020204" pitchFamily="34" charset="0"/>
                <a:cs typeface="Arial" panose="020B0604020202020204" pitchFamily="34" charset="0"/>
              </a:rPr>
              <a:t> dolore magna </a:t>
            </a:r>
            <a:r>
              <a:rPr lang="en-ID" sz="800" dirty="0" err="1">
                <a:latin typeface="Arial" panose="020B0604020202020204" pitchFamily="34" charset="0"/>
                <a:cs typeface="Arial" panose="020B0604020202020204" pitchFamily="34" charset="0"/>
              </a:rPr>
              <a:t>aliquam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erat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volutpat</a:t>
            </a:r>
            <a:r>
              <a:rPr lang="en-ID" sz="800" dirty="0">
                <a:latin typeface="Arial" panose="020B0604020202020204" pitchFamily="34" charset="0"/>
                <a:cs typeface="Arial" panose="020B0604020202020204" pitchFamily="34" charset="0"/>
              </a:rPr>
              <a:t>. Ut </a:t>
            </a:r>
            <a:r>
              <a:rPr lang="en-ID" sz="800" dirty="0" err="1">
                <a:latin typeface="Arial" panose="020B0604020202020204" pitchFamily="34" charset="0"/>
                <a:cs typeface="Arial" panose="020B0604020202020204" pitchFamily="34" charset="0"/>
              </a:rPr>
              <a:t>wisi</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enim</a:t>
            </a:r>
            <a:r>
              <a:rPr lang="en-ID" sz="800" dirty="0">
                <a:latin typeface="Arial" panose="020B0604020202020204" pitchFamily="34" charset="0"/>
                <a:cs typeface="Arial" panose="020B0604020202020204" pitchFamily="34" charset="0"/>
              </a:rPr>
              <a:t> ad minim </a:t>
            </a:r>
            <a:r>
              <a:rPr lang="en-ID" sz="800" dirty="0" err="1">
                <a:latin typeface="Arial" panose="020B0604020202020204" pitchFamily="34" charset="0"/>
                <a:cs typeface="Arial" panose="020B0604020202020204" pitchFamily="34" charset="0"/>
              </a:rPr>
              <a:t>veniam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quis</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nostrud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exerci</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tation</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ullamcorper</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suscipit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lobortis</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nisl</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aliquip</a:t>
            </a:r>
            <a:r>
              <a:rPr lang="en-ID" sz="800" dirty="0">
                <a:latin typeface="Arial" panose="020B0604020202020204" pitchFamily="34" charset="0"/>
                <a:cs typeface="Arial" panose="020B0604020202020204" pitchFamily="34" charset="0"/>
              </a:rPr>
              <a:t> ex </a:t>
            </a:r>
            <a:r>
              <a:rPr lang="en-ID" sz="800" dirty="0" err="1">
                <a:latin typeface="Arial" panose="020B0604020202020204" pitchFamily="34" charset="0"/>
                <a:cs typeface="Arial" panose="020B0604020202020204" pitchFamily="34" charset="0"/>
              </a:rPr>
              <a:t>ea</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commodo</a:t>
            </a:r>
            <a:r>
              <a:rPr lang="en-ID" sz="800" dirty="0">
                <a:latin typeface="Arial" panose="020B0604020202020204" pitchFamily="34" charset="0"/>
                <a:cs typeface="Arial" panose="020B0604020202020204" pitchFamily="34" charset="0"/>
              </a:rPr>
              <a:t>.</a:t>
            </a:r>
          </a:p>
          <a:p>
            <a:pPr algn="just"/>
            <a:endParaRPr lang="en-ID" sz="800" dirty="0">
              <a:latin typeface="Arial" panose="020B0604020202020204" pitchFamily="34" charset="0"/>
              <a:cs typeface="Arial" panose="020B0604020202020204" pitchFamily="34" charset="0"/>
            </a:endParaRPr>
          </a:p>
          <a:p>
            <a:pPr algn="just"/>
            <a:r>
              <a:rPr lang="en-ID" sz="800" dirty="0">
                <a:latin typeface="Arial" panose="020B0604020202020204" pitchFamily="34" charset="0"/>
                <a:cs typeface="Arial" panose="020B0604020202020204" pitchFamily="34" charset="0"/>
              </a:rPr>
              <a:t>Lorem ipsum </a:t>
            </a:r>
            <a:r>
              <a:rPr lang="en-ID" sz="800" dirty="0" err="1">
                <a:latin typeface="Arial" panose="020B0604020202020204" pitchFamily="34" charset="0"/>
                <a:cs typeface="Arial" panose="020B0604020202020204" pitchFamily="34" charset="0"/>
              </a:rPr>
              <a:t>dolor</a:t>
            </a:r>
            <a:r>
              <a:rPr lang="en-ID" sz="800" dirty="0">
                <a:latin typeface="Arial" panose="020B0604020202020204" pitchFamily="34" charset="0"/>
                <a:cs typeface="Arial" panose="020B0604020202020204" pitchFamily="34" charset="0"/>
              </a:rPr>
              <a:t> sit </a:t>
            </a:r>
            <a:r>
              <a:rPr lang="en-ID" sz="800" dirty="0" err="1">
                <a:latin typeface="Arial" panose="020B0604020202020204" pitchFamily="34" charset="0"/>
                <a:cs typeface="Arial" panose="020B0604020202020204" pitchFamily="34" charset="0"/>
              </a:rPr>
              <a:t>amet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consectetuer</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adipiscing</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elit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sed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diam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nonummy</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nibh</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euismod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tincidunt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laoreet</a:t>
            </a:r>
            <a:r>
              <a:rPr lang="en-ID" sz="800" dirty="0">
                <a:latin typeface="Arial" panose="020B0604020202020204" pitchFamily="34" charset="0"/>
                <a:cs typeface="Arial" panose="020B0604020202020204" pitchFamily="34" charset="0"/>
              </a:rPr>
              <a:t> dolore magna </a:t>
            </a:r>
            <a:r>
              <a:rPr lang="en-ID" sz="800" dirty="0" err="1">
                <a:latin typeface="Arial" panose="020B0604020202020204" pitchFamily="34" charset="0"/>
                <a:cs typeface="Arial" panose="020B0604020202020204" pitchFamily="34" charset="0"/>
              </a:rPr>
              <a:t>aliquam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erat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volutpat</a:t>
            </a:r>
            <a:r>
              <a:rPr lang="en-ID" sz="800" dirty="0">
                <a:latin typeface="Arial" panose="020B0604020202020204" pitchFamily="34" charset="0"/>
                <a:cs typeface="Arial" panose="020B0604020202020204" pitchFamily="34" charset="0"/>
              </a:rPr>
              <a:t>. Ut </a:t>
            </a:r>
            <a:r>
              <a:rPr lang="en-ID" sz="800" dirty="0" err="1">
                <a:latin typeface="Arial" panose="020B0604020202020204" pitchFamily="34" charset="0"/>
                <a:cs typeface="Arial" panose="020B0604020202020204" pitchFamily="34" charset="0"/>
              </a:rPr>
              <a:t>wisi</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enim</a:t>
            </a:r>
            <a:r>
              <a:rPr lang="en-ID" sz="800" dirty="0">
                <a:latin typeface="Arial" panose="020B0604020202020204" pitchFamily="34" charset="0"/>
                <a:cs typeface="Arial" panose="020B0604020202020204" pitchFamily="34" charset="0"/>
              </a:rPr>
              <a:t> ad minim </a:t>
            </a:r>
            <a:r>
              <a:rPr lang="en-ID" sz="800" dirty="0" err="1">
                <a:latin typeface="Arial" panose="020B0604020202020204" pitchFamily="34" charset="0"/>
                <a:cs typeface="Arial" panose="020B0604020202020204" pitchFamily="34" charset="0"/>
              </a:rPr>
              <a:t>veniam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quis</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nostrud</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exerci</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tation</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ullamcorper</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suscipit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lobortis</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nisl</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ut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aliquip</a:t>
            </a:r>
            <a:r>
              <a:rPr lang="en-ID" sz="800" dirty="0">
                <a:latin typeface="Arial" panose="020B0604020202020204" pitchFamily="34" charset="0"/>
                <a:cs typeface="Arial" panose="020B0604020202020204" pitchFamily="34" charset="0"/>
              </a:rPr>
              <a:t> ex </a:t>
            </a:r>
            <a:r>
              <a:rPr lang="en-ID" sz="800" dirty="0" err="1">
                <a:latin typeface="Arial" panose="020B0604020202020204" pitchFamily="34" charset="0"/>
                <a:cs typeface="Arial" panose="020B0604020202020204" pitchFamily="34" charset="0"/>
              </a:rPr>
              <a:t>ea</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commodo</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consequat</a:t>
            </a:r>
            <a:r>
              <a:rPr lang="en-ID" sz="800" dirty="0">
                <a:latin typeface="Arial" panose="020B0604020202020204" pitchFamily="34" charset="0"/>
                <a:cs typeface="Arial" panose="020B0604020202020204" pitchFamily="34" charset="0"/>
              </a:rPr>
              <a:t>. Duis autem </a:t>
            </a:r>
            <a:r>
              <a:rPr lang="en-ID" sz="800" dirty="0" err="1">
                <a:latin typeface="Arial" panose="020B0604020202020204" pitchFamily="34" charset="0"/>
                <a:cs typeface="Arial" panose="020B0604020202020204" pitchFamily="34" charset="0"/>
              </a:rPr>
              <a:t>vel</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eum</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iriure</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dolor</a:t>
            </a:r>
            <a:r>
              <a:rPr lang="en-ID" sz="800" dirty="0">
                <a:latin typeface="Arial" panose="020B0604020202020204" pitchFamily="34" charset="0"/>
                <a:cs typeface="Arial" panose="020B0604020202020204" pitchFamily="34" charset="0"/>
              </a:rPr>
              <a:t> in </a:t>
            </a:r>
            <a:r>
              <a:rPr lang="en-ID" sz="800" dirty="0" err="1">
                <a:latin typeface="Arial" panose="020B0604020202020204" pitchFamily="34" charset="0"/>
                <a:cs typeface="Arial" panose="020B0604020202020204" pitchFamily="34" charset="0"/>
              </a:rPr>
              <a:t>hendrerit</a:t>
            </a:r>
            <a:r>
              <a:rPr lang="en-ID" sz="800" dirty="0">
                <a:latin typeface="Arial" panose="020B0604020202020204" pitchFamily="34" charset="0"/>
                <a:cs typeface="Arial" panose="020B0604020202020204" pitchFamily="34" charset="0"/>
              </a:rPr>
              <a:t> in </a:t>
            </a:r>
            <a:r>
              <a:rPr lang="en-ID" sz="800" dirty="0" err="1">
                <a:latin typeface="Arial" panose="020B0604020202020204" pitchFamily="34" charset="0"/>
                <a:cs typeface="Arial" panose="020B0604020202020204" pitchFamily="34" charset="0"/>
              </a:rPr>
              <a:t>vulputate</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velit</a:t>
            </a:r>
            <a:r>
              <a:rPr lang="en-ID" sz="800" dirty="0">
                <a:latin typeface="Arial" panose="020B0604020202020204" pitchFamily="34" charset="0"/>
                <a:cs typeface="Arial" panose="020B0604020202020204" pitchFamily="34" charset="0"/>
              </a:rPr>
              <a:t> esse </a:t>
            </a:r>
            <a:r>
              <a:rPr lang="en-ID" sz="800" dirty="0" err="1">
                <a:latin typeface="Arial" panose="020B0604020202020204" pitchFamily="34" charset="0"/>
                <a:cs typeface="Arial" panose="020B0604020202020204" pitchFamily="34" charset="0"/>
              </a:rPr>
              <a:t>molestie</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consequat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vel</a:t>
            </a:r>
            <a:r>
              <a:rPr lang="en-ID" sz="800" dirty="0">
                <a:latin typeface="Arial" panose="020B0604020202020204" pitchFamily="34" charset="0"/>
                <a:cs typeface="Arial" panose="020B0604020202020204" pitchFamily="34" charset="0"/>
              </a:rPr>
              <a:t> illum dolore </a:t>
            </a:r>
            <a:r>
              <a:rPr lang="en-ID" sz="800" dirty="0" err="1">
                <a:latin typeface="Arial" panose="020B0604020202020204" pitchFamily="34" charset="0"/>
                <a:cs typeface="Arial" panose="020B0604020202020204" pitchFamily="34" charset="0"/>
              </a:rPr>
              <a:t>eu</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feugiat</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nulla</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facilisis</a:t>
            </a:r>
            <a:r>
              <a:rPr lang="en-ID" sz="800" dirty="0">
                <a:latin typeface="Arial" panose="020B0604020202020204" pitchFamily="34" charset="0"/>
                <a:cs typeface="Arial" panose="020B0604020202020204" pitchFamily="34" charset="0"/>
              </a:rPr>
              <a:t> at </a:t>
            </a:r>
            <a:r>
              <a:rPr lang="en-ID" sz="800" dirty="0" err="1">
                <a:latin typeface="Arial" panose="020B0604020202020204" pitchFamily="34" charset="0"/>
                <a:cs typeface="Arial" panose="020B0604020202020204" pitchFamily="34" charset="0"/>
              </a:rPr>
              <a:t>vero</a:t>
            </a:r>
            <a:r>
              <a:rPr lang="en-ID" sz="800" dirty="0">
                <a:latin typeface="Arial" panose="020B0604020202020204" pitchFamily="34" charset="0"/>
                <a:cs typeface="Arial" panose="020B0604020202020204" pitchFamily="34" charset="0"/>
              </a:rPr>
              <a:t> eros et </a:t>
            </a:r>
            <a:r>
              <a:rPr lang="en-ID" sz="800" dirty="0" err="1">
                <a:latin typeface="Arial" panose="020B0604020202020204" pitchFamily="34" charset="0"/>
                <a:cs typeface="Arial" panose="020B0604020202020204" pitchFamily="34" charset="0"/>
              </a:rPr>
              <a:t>accumsan</a:t>
            </a:r>
            <a:r>
              <a:rPr lang="en-ID" sz="800" dirty="0">
                <a:latin typeface="Arial" panose="020B0604020202020204" pitchFamily="34" charset="0"/>
                <a:cs typeface="Arial" panose="020B0604020202020204" pitchFamily="34" charset="0"/>
              </a:rPr>
              <a:t> et </a:t>
            </a:r>
            <a:r>
              <a:rPr lang="en-ID" sz="800" dirty="0" err="1">
                <a:latin typeface="Arial" panose="020B0604020202020204" pitchFamily="34" charset="0"/>
                <a:cs typeface="Arial" panose="020B0604020202020204" pitchFamily="34" charset="0"/>
              </a:rPr>
              <a:t>iusto</a:t>
            </a:r>
            <a:r>
              <a:rPr lang="en-ID" sz="800" dirty="0">
                <a:latin typeface="Arial" panose="020B0604020202020204" pitchFamily="34" charset="0"/>
                <a:cs typeface="Arial" panose="020B0604020202020204" pitchFamily="34" charset="0"/>
              </a:rPr>
              <a:t> </a:t>
            </a:r>
            <a:r>
              <a:rPr lang="en-ID" sz="800" dirty="0" err="1">
                <a:latin typeface="Arial" panose="020B0604020202020204" pitchFamily="34" charset="0"/>
                <a:cs typeface="Arial" panose="020B0604020202020204" pitchFamily="34" charset="0"/>
              </a:rPr>
              <a:t>odio</a:t>
            </a:r>
            <a:endParaRPr lang="en-ID" sz="800" dirty="0">
              <a:latin typeface="Arial" panose="020B0604020202020204" pitchFamily="34" charset="0"/>
              <a:cs typeface="Arial" panose="020B0604020202020204" pitchFamily="34" charset="0"/>
            </a:endParaRPr>
          </a:p>
        </p:txBody>
      </p:sp>
      <p:pic>
        <p:nvPicPr>
          <p:cNvPr id="15" name="Picture 14" descr="A black and white sign with white text&#10;&#10;AI-generated content may be incorrect.">
            <a:extLst>
              <a:ext uri="{FF2B5EF4-FFF2-40B4-BE49-F238E27FC236}">
                <a16:creationId xmlns:a16="http://schemas.microsoft.com/office/drawing/2014/main" id="{D6B0B848-B62C-5240-CB60-4434E28910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6817" y="143056"/>
            <a:ext cx="347549" cy="307777"/>
          </a:xfrm>
          <a:prstGeom prst="rect">
            <a:avLst/>
          </a:prstGeom>
        </p:spPr>
      </p:pic>
      <p:pic>
        <p:nvPicPr>
          <p:cNvPr id="32" name="Picture 31" descr="A white text on a black background&#10;&#10;AI-generated content may be incorrect.">
            <a:extLst>
              <a:ext uri="{FF2B5EF4-FFF2-40B4-BE49-F238E27FC236}">
                <a16:creationId xmlns:a16="http://schemas.microsoft.com/office/drawing/2014/main" id="{E4EFB27A-7A6A-0E0A-D4A7-DF2A9F8CB8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780" y="130352"/>
            <a:ext cx="1482724" cy="307777"/>
          </a:xfrm>
          <a:prstGeom prst="rect">
            <a:avLst/>
          </a:prstGeom>
        </p:spPr>
      </p:pic>
      <p:sp>
        <p:nvSpPr>
          <p:cNvPr id="33" name="Rectangle 32">
            <a:extLst>
              <a:ext uri="{FF2B5EF4-FFF2-40B4-BE49-F238E27FC236}">
                <a16:creationId xmlns:a16="http://schemas.microsoft.com/office/drawing/2014/main" id="{A487F945-6361-122E-49FB-254DC7C7ED76}"/>
              </a:ext>
            </a:extLst>
          </p:cNvPr>
          <p:cNvSpPr/>
          <p:nvPr/>
        </p:nvSpPr>
        <p:spPr>
          <a:xfrm>
            <a:off x="2166683" y="10328919"/>
            <a:ext cx="3226308" cy="246221"/>
          </a:xfrm>
          <a:prstGeom prst="rect">
            <a:avLst/>
          </a:prstGeom>
        </p:spPr>
        <p:txBody>
          <a:bodyPr wrap="square">
            <a:spAutoFit/>
          </a:bodyPr>
          <a:lstStyle/>
          <a:p>
            <a:pPr algn="ctr" defTabSz="687720"/>
            <a:r>
              <a:rPr lang="en-GB" sz="1000" dirty="0">
                <a:solidFill>
                  <a:schemeClr val="bg1"/>
                </a:solidFill>
                <a:latin typeface="Arial" panose="020B0604020202020204" pitchFamily="34" charset="0"/>
                <a:cs typeface="Arial" panose="020B0604020202020204" pitchFamily="34" charset="0"/>
              </a:rPr>
              <a:t>Kantor Wakil </a:t>
            </a:r>
            <a:r>
              <a:rPr lang="en-GB" sz="1000" dirty="0" err="1">
                <a:solidFill>
                  <a:schemeClr val="bg1"/>
                </a:solidFill>
                <a:latin typeface="Arial" panose="020B0604020202020204" pitchFamily="34" charset="0"/>
                <a:cs typeface="Arial" panose="020B0604020202020204" pitchFamily="34" charset="0"/>
              </a:rPr>
              <a:t>Rektor</a:t>
            </a:r>
            <a:r>
              <a:rPr lang="en-GB" sz="1000" dirty="0">
                <a:solidFill>
                  <a:schemeClr val="bg1"/>
                </a:solidFill>
                <a:latin typeface="Arial" panose="020B0604020202020204" pitchFamily="34" charset="0"/>
                <a:cs typeface="Arial" panose="020B0604020202020204" pitchFamily="34" charset="0"/>
              </a:rPr>
              <a:t> </a:t>
            </a:r>
            <a:r>
              <a:rPr lang="en-GB" sz="1000" dirty="0" err="1">
                <a:solidFill>
                  <a:schemeClr val="bg1"/>
                </a:solidFill>
                <a:latin typeface="Arial" panose="020B0604020202020204" pitchFamily="34" charset="0"/>
                <a:cs typeface="Arial" panose="020B0604020202020204" pitchFamily="34" charset="0"/>
              </a:rPr>
              <a:t>Bidang</a:t>
            </a:r>
            <a:r>
              <a:rPr lang="en-GB" sz="1000" dirty="0">
                <a:solidFill>
                  <a:schemeClr val="bg1"/>
                </a:solidFill>
                <a:latin typeface="Arial" panose="020B0604020202020204" pitchFamily="34" charset="0"/>
                <a:cs typeface="Arial" panose="020B0604020202020204" pitchFamily="34" charset="0"/>
              </a:rPr>
              <a:t> Riset dan </a:t>
            </a:r>
            <a:r>
              <a:rPr lang="en-GB" sz="1000" dirty="0" err="1">
                <a:solidFill>
                  <a:schemeClr val="bg1"/>
                </a:solidFill>
                <a:latin typeface="Arial" panose="020B0604020202020204" pitchFamily="34" charset="0"/>
                <a:cs typeface="Arial" panose="020B0604020202020204" pitchFamily="34" charset="0"/>
              </a:rPr>
              <a:t>Inovasi</a:t>
            </a:r>
            <a:r>
              <a:rPr lang="en-GB" sz="1000" dirty="0">
                <a:solidFill>
                  <a:schemeClr val="bg1"/>
                </a:solidFill>
                <a:latin typeface="Arial" panose="020B0604020202020204" pitchFamily="34" charset="0"/>
                <a:cs typeface="Arial" panose="020B0604020202020204" pitchFamily="34" charset="0"/>
              </a:rPr>
              <a:t>, ITB</a:t>
            </a:r>
            <a:endParaRPr lang="id-ID" sz="800" dirty="0">
              <a:solidFill>
                <a:schemeClr val="bg1"/>
              </a:solidFill>
              <a:latin typeface="Arial" panose="020B0604020202020204" pitchFamily="34" charset="0"/>
              <a:cs typeface="Arial" panose="020B0604020202020204" pitchFamily="34" charset="0"/>
            </a:endParaRPr>
          </a:p>
        </p:txBody>
      </p:sp>
      <p:pic>
        <p:nvPicPr>
          <p:cNvPr id="35" name="Picture 34" descr="A white text on a black background&#10;&#10;AI-generated content may be incorrect.">
            <a:extLst>
              <a:ext uri="{FF2B5EF4-FFF2-40B4-BE49-F238E27FC236}">
                <a16:creationId xmlns:a16="http://schemas.microsoft.com/office/drawing/2014/main" id="{7D39AA81-1FBA-A70D-76B8-17583EE27F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86859" y="58860"/>
            <a:ext cx="439803" cy="439698"/>
          </a:xfrm>
          <a:prstGeom prst="rect">
            <a:avLst/>
          </a:prstGeom>
        </p:spPr>
      </p:pic>
      <p:sp>
        <p:nvSpPr>
          <p:cNvPr id="37" name="TextBox 36">
            <a:extLst>
              <a:ext uri="{FF2B5EF4-FFF2-40B4-BE49-F238E27FC236}">
                <a16:creationId xmlns:a16="http://schemas.microsoft.com/office/drawing/2014/main" id="{EB317E37-89AC-D835-C66C-47C7AFA3C9F4}"/>
              </a:ext>
            </a:extLst>
          </p:cNvPr>
          <p:cNvSpPr txBox="1"/>
          <p:nvPr/>
        </p:nvSpPr>
        <p:spPr>
          <a:xfrm>
            <a:off x="1390967" y="504018"/>
            <a:ext cx="4777740" cy="246221"/>
          </a:xfrm>
          <a:prstGeom prst="rect">
            <a:avLst/>
          </a:prstGeom>
          <a:noFill/>
        </p:spPr>
        <p:txBody>
          <a:bodyPr wrap="square">
            <a:spAutoFit/>
          </a:bodyPr>
          <a:lstStyle/>
          <a:p>
            <a:pPr algn="ctr"/>
            <a:r>
              <a:rPr lang="en-US" sz="1000" dirty="0" err="1">
                <a:solidFill>
                  <a:schemeClr val="bg1"/>
                </a:solidFill>
                <a:latin typeface="Calibri"/>
              </a:rPr>
              <a:t>Penulis</a:t>
            </a:r>
            <a:r>
              <a:rPr lang="en-US" sz="1000" dirty="0">
                <a:solidFill>
                  <a:schemeClr val="bg1"/>
                </a:solidFill>
                <a:latin typeface="Calibri"/>
              </a:rPr>
              <a:t> </a:t>
            </a:r>
            <a:r>
              <a:rPr lang="en-US" sz="1000" baseline="30000" dirty="0">
                <a:solidFill>
                  <a:schemeClr val="bg1"/>
                </a:solidFill>
                <a:latin typeface="Calibri"/>
              </a:rPr>
              <a:t>1</a:t>
            </a:r>
            <a:r>
              <a:rPr lang="en-US" sz="1000" dirty="0">
                <a:solidFill>
                  <a:schemeClr val="bg1"/>
                </a:solidFill>
                <a:latin typeface="Calibri"/>
              </a:rPr>
              <a:t>, </a:t>
            </a:r>
            <a:r>
              <a:rPr lang="en-US" sz="1000" dirty="0" err="1">
                <a:solidFill>
                  <a:schemeClr val="bg1"/>
                </a:solidFill>
                <a:latin typeface="Calibri"/>
              </a:rPr>
              <a:t>Penulis</a:t>
            </a:r>
            <a:r>
              <a:rPr lang="en-US" sz="1000" dirty="0">
                <a:solidFill>
                  <a:schemeClr val="bg1"/>
                </a:solidFill>
                <a:latin typeface="Calibri"/>
              </a:rPr>
              <a:t> </a:t>
            </a:r>
            <a:r>
              <a:rPr lang="en-US" sz="1000" baseline="30000" dirty="0">
                <a:solidFill>
                  <a:schemeClr val="bg1"/>
                </a:solidFill>
                <a:latin typeface="Calibri"/>
              </a:rPr>
              <a:t>1</a:t>
            </a:r>
            <a:r>
              <a:rPr lang="en-US" sz="1000" dirty="0">
                <a:solidFill>
                  <a:schemeClr val="bg1"/>
                </a:solidFill>
                <a:latin typeface="Calibri"/>
              </a:rPr>
              <a:t>, </a:t>
            </a:r>
            <a:r>
              <a:rPr lang="en-US" sz="1000" dirty="0" err="1">
                <a:solidFill>
                  <a:schemeClr val="bg1"/>
                </a:solidFill>
                <a:latin typeface="Calibri"/>
              </a:rPr>
              <a:t>Penulis</a:t>
            </a:r>
            <a:r>
              <a:rPr lang="en-US" sz="1000" dirty="0">
                <a:solidFill>
                  <a:schemeClr val="bg1"/>
                </a:solidFill>
                <a:latin typeface="Calibri"/>
              </a:rPr>
              <a:t> </a:t>
            </a:r>
            <a:r>
              <a:rPr lang="en-US" sz="1000" baseline="30000" dirty="0">
                <a:solidFill>
                  <a:schemeClr val="bg1"/>
                </a:solidFill>
                <a:latin typeface="Calibri"/>
              </a:rPr>
              <a:t>2</a:t>
            </a:r>
            <a:r>
              <a:rPr lang="en-US" sz="1000" dirty="0">
                <a:solidFill>
                  <a:schemeClr val="bg1"/>
                </a:solidFill>
                <a:latin typeface="Calibri"/>
              </a:rPr>
              <a:t>, </a:t>
            </a:r>
            <a:r>
              <a:rPr lang="en-US" sz="1000" dirty="0" err="1">
                <a:solidFill>
                  <a:schemeClr val="bg1"/>
                </a:solidFill>
                <a:latin typeface="Calibri"/>
              </a:rPr>
              <a:t>Penulis</a:t>
            </a:r>
            <a:r>
              <a:rPr lang="en-US" sz="1000" dirty="0">
                <a:solidFill>
                  <a:schemeClr val="bg1"/>
                </a:solidFill>
                <a:latin typeface="Calibri"/>
              </a:rPr>
              <a:t> </a:t>
            </a:r>
            <a:r>
              <a:rPr lang="en-US" sz="1000" baseline="30000" dirty="0">
                <a:solidFill>
                  <a:schemeClr val="bg1"/>
                </a:solidFill>
                <a:latin typeface="Calibri"/>
              </a:rPr>
              <a:t>3</a:t>
            </a:r>
            <a:r>
              <a:rPr lang="en-US" sz="1000" dirty="0">
                <a:solidFill>
                  <a:schemeClr val="bg1"/>
                </a:solidFill>
                <a:latin typeface="Calibri"/>
              </a:rPr>
              <a:t>, </a:t>
            </a:r>
            <a:r>
              <a:rPr lang="en-US" sz="1000" dirty="0" err="1">
                <a:solidFill>
                  <a:schemeClr val="bg1"/>
                </a:solidFill>
                <a:latin typeface="Calibri"/>
              </a:rPr>
              <a:t>dst</a:t>
            </a:r>
            <a:r>
              <a:rPr lang="en-US" sz="1000" dirty="0">
                <a:solidFill>
                  <a:schemeClr val="bg1"/>
                </a:solidFill>
                <a:latin typeface="Calibri"/>
              </a:rPr>
              <a:t>. </a:t>
            </a:r>
            <a:endParaRPr lang="en-ID" sz="1000" dirty="0"/>
          </a:p>
        </p:txBody>
      </p:sp>
      <p:sp>
        <p:nvSpPr>
          <p:cNvPr id="38" name="TextBox 37">
            <a:extLst>
              <a:ext uri="{FF2B5EF4-FFF2-40B4-BE49-F238E27FC236}">
                <a16:creationId xmlns:a16="http://schemas.microsoft.com/office/drawing/2014/main" id="{7682B9F7-C592-CB41-A21E-1C8D1CBECE98}"/>
              </a:ext>
            </a:extLst>
          </p:cNvPr>
          <p:cNvSpPr txBox="1"/>
          <p:nvPr/>
        </p:nvSpPr>
        <p:spPr>
          <a:xfrm>
            <a:off x="2166683" y="744137"/>
            <a:ext cx="3226308" cy="507831"/>
          </a:xfrm>
          <a:prstGeom prst="rect">
            <a:avLst/>
          </a:prstGeom>
          <a:noFill/>
        </p:spPr>
        <p:txBody>
          <a:bodyPr wrap="square">
            <a:spAutoFit/>
          </a:bodyPr>
          <a:lstStyle/>
          <a:p>
            <a:pPr algn="ctr"/>
            <a:r>
              <a:rPr lang="en-US" sz="900" baseline="30000" dirty="0">
                <a:solidFill>
                  <a:schemeClr val="bg1"/>
                </a:solidFill>
                <a:latin typeface="Calibri"/>
              </a:rPr>
              <a:t>1</a:t>
            </a:r>
            <a:r>
              <a:rPr lang="en-US" sz="900" dirty="0">
                <a:solidFill>
                  <a:schemeClr val="bg1"/>
                </a:solidFill>
                <a:latin typeface="Calibri"/>
              </a:rPr>
              <a:t> </a:t>
            </a:r>
            <a:r>
              <a:rPr lang="en-US" sz="900" dirty="0" err="1">
                <a:solidFill>
                  <a:schemeClr val="bg1"/>
                </a:solidFill>
                <a:latin typeface="Calibri"/>
              </a:rPr>
              <a:t>Fakultas</a:t>
            </a:r>
            <a:r>
              <a:rPr lang="en-US" sz="900" dirty="0">
                <a:solidFill>
                  <a:schemeClr val="bg1"/>
                </a:solidFill>
                <a:latin typeface="Calibri"/>
              </a:rPr>
              <a:t>/</a:t>
            </a:r>
            <a:r>
              <a:rPr lang="en-US" sz="900" dirty="0" err="1">
                <a:solidFill>
                  <a:schemeClr val="bg1"/>
                </a:solidFill>
                <a:latin typeface="Calibri"/>
              </a:rPr>
              <a:t>Sekolah</a:t>
            </a:r>
            <a:r>
              <a:rPr lang="en-US" sz="900" dirty="0">
                <a:solidFill>
                  <a:schemeClr val="bg1"/>
                </a:solidFill>
                <a:latin typeface="Calibri"/>
              </a:rPr>
              <a:t>/Pusat/Pusat </a:t>
            </a:r>
            <a:r>
              <a:rPr lang="en-US" sz="900" dirty="0" err="1">
                <a:solidFill>
                  <a:schemeClr val="bg1"/>
                </a:solidFill>
                <a:latin typeface="Calibri"/>
              </a:rPr>
              <a:t>Penelitian</a:t>
            </a:r>
            <a:endParaRPr lang="en-US" sz="900" dirty="0">
              <a:solidFill>
                <a:schemeClr val="bg1"/>
              </a:solidFill>
              <a:latin typeface="Calibri"/>
            </a:endParaRPr>
          </a:p>
          <a:p>
            <a:pPr algn="ctr"/>
            <a:r>
              <a:rPr lang="en-US" sz="900" baseline="30000" dirty="0">
                <a:solidFill>
                  <a:schemeClr val="bg1"/>
                </a:solidFill>
                <a:latin typeface="Calibri"/>
              </a:rPr>
              <a:t>2</a:t>
            </a:r>
            <a:r>
              <a:rPr lang="en-US" sz="900" dirty="0">
                <a:solidFill>
                  <a:schemeClr val="bg1"/>
                </a:solidFill>
                <a:latin typeface="Calibri"/>
              </a:rPr>
              <a:t> </a:t>
            </a:r>
            <a:r>
              <a:rPr lang="en-US" sz="900" dirty="0" err="1">
                <a:solidFill>
                  <a:schemeClr val="bg1"/>
                </a:solidFill>
                <a:latin typeface="Calibri"/>
              </a:rPr>
              <a:t>Fakultas</a:t>
            </a:r>
            <a:r>
              <a:rPr lang="en-US" sz="900" dirty="0">
                <a:solidFill>
                  <a:schemeClr val="bg1"/>
                </a:solidFill>
                <a:latin typeface="Calibri"/>
              </a:rPr>
              <a:t>/</a:t>
            </a:r>
            <a:r>
              <a:rPr lang="en-US" sz="900" dirty="0" err="1">
                <a:solidFill>
                  <a:schemeClr val="bg1"/>
                </a:solidFill>
                <a:latin typeface="Calibri"/>
              </a:rPr>
              <a:t>Sekolah</a:t>
            </a:r>
            <a:r>
              <a:rPr lang="en-US" sz="900" dirty="0">
                <a:solidFill>
                  <a:schemeClr val="bg1"/>
                </a:solidFill>
                <a:latin typeface="Calibri"/>
              </a:rPr>
              <a:t>/Pusat/Pusat </a:t>
            </a:r>
            <a:r>
              <a:rPr lang="en-US" sz="900" dirty="0" err="1">
                <a:solidFill>
                  <a:schemeClr val="bg1"/>
                </a:solidFill>
                <a:latin typeface="Calibri"/>
              </a:rPr>
              <a:t>Penelitian</a:t>
            </a:r>
            <a:endParaRPr lang="en-US" sz="900" dirty="0">
              <a:solidFill>
                <a:schemeClr val="bg1"/>
              </a:solidFill>
              <a:latin typeface="Calibri"/>
            </a:endParaRPr>
          </a:p>
          <a:p>
            <a:pPr algn="ctr"/>
            <a:endParaRPr lang="en-US" sz="900" dirty="0">
              <a:solidFill>
                <a:schemeClr val="bg1"/>
              </a:solidFill>
              <a:latin typeface="Calibri"/>
            </a:endParaRPr>
          </a:p>
        </p:txBody>
      </p:sp>
      <p:pic>
        <p:nvPicPr>
          <p:cNvPr id="4" name="Picture 3" descr="A diagram of a program&#10;&#10;AI-generated content may be incorrect.">
            <a:extLst>
              <a:ext uri="{FF2B5EF4-FFF2-40B4-BE49-F238E27FC236}">
                <a16:creationId xmlns:a16="http://schemas.microsoft.com/office/drawing/2014/main" id="{754D85F4-CCDB-B9FF-1DBC-2E50CEDB82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35688" y="3562977"/>
            <a:ext cx="2268175" cy="1727493"/>
          </a:xfrm>
          <a:prstGeom prst="rect">
            <a:avLst/>
          </a:prstGeom>
        </p:spPr>
      </p:pic>
      <p:sp>
        <p:nvSpPr>
          <p:cNvPr id="11" name="TextBox 10">
            <a:extLst>
              <a:ext uri="{FF2B5EF4-FFF2-40B4-BE49-F238E27FC236}">
                <a16:creationId xmlns:a16="http://schemas.microsoft.com/office/drawing/2014/main" id="{7E3F815B-5557-1BA6-206C-0DB72CDA03D8}"/>
              </a:ext>
            </a:extLst>
          </p:cNvPr>
          <p:cNvSpPr txBox="1"/>
          <p:nvPr/>
        </p:nvSpPr>
        <p:spPr>
          <a:xfrm>
            <a:off x="4986464" y="5453922"/>
            <a:ext cx="2453640" cy="215444"/>
          </a:xfrm>
          <a:prstGeom prst="rect">
            <a:avLst/>
          </a:prstGeom>
          <a:noFill/>
        </p:spPr>
        <p:txBody>
          <a:bodyPr wrap="square" rtlCol="0">
            <a:spAutoFit/>
          </a:bodyPr>
          <a:lstStyle/>
          <a:p>
            <a:pPr algn="ctr"/>
            <a:r>
              <a:rPr lang="en-ID" sz="800" i="1" dirty="0">
                <a:latin typeface="Arial" panose="020B0604020202020204" pitchFamily="34" charset="0"/>
                <a:cs typeface="Arial" panose="020B0604020202020204" pitchFamily="34" charset="0"/>
              </a:rPr>
              <a:t>Picture 3. Intrinsic UAS Ground Risk Class</a:t>
            </a:r>
          </a:p>
        </p:txBody>
      </p:sp>
      <p:pic>
        <p:nvPicPr>
          <p:cNvPr id="1030" name="Picture 6">
            <a:extLst>
              <a:ext uri="{FF2B5EF4-FFF2-40B4-BE49-F238E27FC236}">
                <a16:creationId xmlns:a16="http://schemas.microsoft.com/office/drawing/2014/main" id="{2C3323A5-DA6A-D184-A10D-2B932C79D1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35688" y="8491069"/>
            <a:ext cx="2268175" cy="85951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5C833766-3EB8-87CB-827A-D79D105CED26}"/>
              </a:ext>
            </a:extLst>
          </p:cNvPr>
          <p:cNvPicPr>
            <a:picLocks noChangeAspect="1"/>
          </p:cNvPicPr>
          <p:nvPr/>
        </p:nvPicPr>
        <p:blipFill>
          <a:blip r:embed="rId8"/>
          <a:srcRect l="11395" r="13216"/>
          <a:stretch>
            <a:fillRect/>
          </a:stretch>
        </p:blipFill>
        <p:spPr>
          <a:xfrm>
            <a:off x="5069136" y="3232957"/>
            <a:ext cx="2298090" cy="1519849"/>
          </a:xfrm>
          <a:prstGeom prst="rect">
            <a:avLst/>
          </a:prstGeom>
        </p:spPr>
      </p:pic>
    </p:spTree>
    <p:extLst>
      <p:ext uri="{BB962C8B-B14F-4D97-AF65-F5344CB8AC3E}">
        <p14:creationId xmlns:p14="http://schemas.microsoft.com/office/powerpoint/2010/main" val="14534868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512</TotalTime>
  <Words>1058</Words>
  <Application>Microsoft Office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Hasan Asyari</dc:creator>
  <cp:lastModifiedBy>Bevan Bintang Setiawarman</cp:lastModifiedBy>
  <cp:revision>8</cp:revision>
  <dcterms:created xsi:type="dcterms:W3CDTF">2024-11-08T02:39:24Z</dcterms:created>
  <dcterms:modified xsi:type="dcterms:W3CDTF">2025-11-27T13:47:24Z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2024-11-08T02:45:32Z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e6a07fe4-614b-470c-8a8f-023adbf9b49d</vt:lpwstr>
  </property>
  <property fmtid="{D5CDD505-2E9C-101B-9397-08002B2CF9AE}" pid="8" name="MSIP_Label_38b525e5-f3da-4501-8f1e-526b6769fc56_ContentBits">
    <vt:lpwstr>0</vt:lpwstr>
  </property>
</Properties>
</file>